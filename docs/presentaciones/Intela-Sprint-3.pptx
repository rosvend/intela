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2100000"/>
            <a:ext cx="82000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0000" y="1900000"/>
            <a:ext cx="50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C9186B"/>
                </a:solidFill>
                <a:latin typeface="Calibri"/>
              </a:rPr>
              <a:t>Intela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11111"/>
                </a:solidFill>
                <a:latin typeface="Calibri"/>
              </a:rPr>
              <a:t>Sprint 3 · Del reporte de un canal al reparto de un guionista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00000"/>
            <a:ext cx="70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Sistema de reconocimiento de obras y distribución de ingresos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por propiedad intelectual para REDES SGC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000"/>
            <a:ext cx="55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Emanuel Acevedo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Roy Sandoval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Miguel Legarda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Santiago Mendoza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Proyecto Aplicado en TIC II  ·  Sprint 3  ·  Septiembre de 2026</a:t>
            </a:r>
          </a:p>
        </p:txBody>
      </p:sp>
      <p:pic>
        <p:nvPicPr>
          <p:cNvPr id="9" name="Picture 8" descr="s3_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000" y="2500000"/>
            <a:ext cx="3800000" cy="237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00000" y="4950000"/>
            <a:ext cx="38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El catálogo de obras, ya en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Un problema de dinero ajeno </a:t>
            </a:r>
            <a:r>
              <a:rPr sz="3000" b="1">
                <a:solidFill>
                  <a:srgbClr val="111111"/>
                </a:solidFill>
                <a:latin typeface="Calibri"/>
              </a:rPr>
              <a:t>y de papeles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1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00000"/>
            <a:ext cx="10637520" cy="9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240" y="2250000"/>
            <a:ext cx="1023752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11111"/>
                </a:solidFill>
                <a:latin typeface="Calibri"/>
              </a:rPr>
              <a:t>Un guionista cobra cuando su obra se emite. Hoy, calcular cuánto le toca es un trabajo manual sobre miles de filas de parrilla, para cada canal y cada periodo.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00000"/>
            <a:ext cx="3428640" cy="22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240" y="3400000"/>
            <a:ext cx="306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Lo que dice la ley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240" y="3950000"/>
            <a:ext cx="306864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La Ley 1835 de 2017 (Ley Pepe Sánchez) creó el derecho de remuneración de los guionistas y libretistas por la comunicación pública de sus obras.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5880" y="3200000"/>
            <a:ext cx="3428640" cy="22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5880" y="32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5880" y="3400000"/>
            <a:ext cx="306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Quién paga y cuánto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5880" y="3950000"/>
            <a:ext cx="306864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Canales, plataformas, salas de cine, hoteles y transporte. Cada uno paga una tarifa concertada y distinta: el convenio firmado manda.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4520" y="3200000"/>
            <a:ext cx="3428640" cy="22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4520" y="32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520" y="3400000"/>
            <a:ext cx="306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La exigencia de fondo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520" y="3950000"/>
            <a:ext cx="306864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La auditoría puede llegar en cualquier momento y los registros se conservan diez años. Cada cifra debe explicarse hasta su origen.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50000"/>
            <a:ext cx="1063752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9186B"/>
                </a:solidFill>
                <a:latin typeface="Calibri"/>
              </a:rPr>
              <a:t>El sistema no inventa cifras: si falta un dato, se detiene y lo dice.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LA IDEA QUE CAMBIA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El dinero no llega </a:t>
            </a:r>
            <a:r>
              <a:rPr sz="3000" b="1">
                <a:solidFill>
                  <a:srgbClr val="111111"/>
                </a:solidFill>
                <a:latin typeface="Calibri"/>
              </a:rPr>
              <a:t>por fila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2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pic>
        <p:nvPicPr>
          <p:cNvPr id="9" name="Picture 8" descr="s3_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00000"/>
            <a:ext cx="10637520" cy="25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7240" y="4750000"/>
            <a:ext cx="10637520" cy="14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75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7240" y="4850000"/>
            <a:ext cx="1023752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La analogía que lo explica en diez segundos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240" y="5250000"/>
            <a:ext cx="1023752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Imagina diez locales de un centro comercial que pagan entre todos una cuota por la música que suena en las zonas comunes. La cuota no dice qué canción sonó: eso lo dice el reporte de uso. Primero se reparte entre las canciones según cuánto sonaron; después, cada canción paga a sus autores según lo que cada uno declaró.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EL CÁLCULO, CON LAS CIFRAS DEL REGLAMENTO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Canal Z: de la bolsa </a:t>
            </a:r>
            <a:r>
              <a:rPr sz="3000" b="1">
                <a:solidFill>
                  <a:srgbClr val="111111"/>
                </a:solidFill>
                <a:latin typeface="Calibri"/>
              </a:rPr>
              <a:t>al pago de cada obra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3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00000"/>
            <a:ext cx="10637520" cy="9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240" y="2200000"/>
            <a:ext cx="1023752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Puntos = ponderación × duración × rating × emisiones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240" y="2550000"/>
            <a:ext cx="1023752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Valor del punto = total del canal ÷ total de puntos del canal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50000"/>
            <a:ext cx="1063752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La duración artística es el 80 % de la reportada y la hora de televisión se computa como 48 minutos. Las dos reglas no se encadenan.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00000"/>
            <a:ext cx="2500000" cy="16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240" y="3700000"/>
            <a:ext cx="226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1.000.000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240" y="4400000"/>
            <a:ext cx="22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la bolsa del canal Z, tras deducciones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7240" y="3500000"/>
            <a:ext cx="2500000" cy="16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7240" y="35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240" y="3700000"/>
            <a:ext cx="226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139,1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240" y="4400000"/>
            <a:ext cx="22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el valor del punto ese periodo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7240" y="3500000"/>
            <a:ext cx="2500000" cy="16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7240" y="35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240" y="3700000"/>
            <a:ext cx="226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$219.024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240" y="4400000"/>
            <a:ext cx="22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Película X · 1 emisión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7240" y="3500000"/>
            <a:ext cx="2500000" cy="16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57240" y="35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7240" y="3700000"/>
            <a:ext cx="226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$780.976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7240" y="4400000"/>
            <a:ext cx="22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Serie Y · 10 emisiones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0000"/>
            <a:ext cx="1063752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1111"/>
                </a:solidFill>
                <a:latin typeface="Calibri"/>
              </a:rPr>
              <a:t>Es un caso de prueba del sistema.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Si el motor no reproduce estas cifras del reglamento, la compuerta de integración falla.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LO QUE SE ENTREGÓ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Sprint 3, </a:t>
            </a:r>
            <a:r>
              <a:rPr sz="3000" b="1">
                <a:solidFill>
                  <a:srgbClr val="111111"/>
                </a:solidFill>
                <a:latin typeface="Calibri"/>
              </a:rPr>
              <a:t>en un vistazo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4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00000"/>
            <a:ext cx="3428640" cy="11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240" y="2250000"/>
            <a:ext cx="318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C9186B"/>
                </a:solidFill>
                <a:latin typeface="Calibri"/>
              </a:rPr>
              <a:t>16 de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240" y="2800000"/>
            <a:ext cx="3188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issues entregadas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5880" y="2100000"/>
            <a:ext cx="3428640" cy="11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5880" y="21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80" y="2250000"/>
            <a:ext cx="318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C9186B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80" y="2800000"/>
            <a:ext cx="3188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frentes de trabajo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4520" y="2100000"/>
            <a:ext cx="3428640" cy="11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4520" y="21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4520" y="2250000"/>
            <a:ext cx="318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C9186B"/>
                </a:solidFill>
                <a:latin typeface="Calibri"/>
              </a:rPr>
              <a:t>21 sep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4520" y="2800000"/>
            <a:ext cx="3188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cierre del sprint</a:t>
            </a:r>
          </a:p>
        </p:txBody>
      </p:sp>
      <p:pic>
        <p:nvPicPr>
          <p:cNvPr id="21" name="Picture 20" descr="s3_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00000"/>
            <a:ext cx="1063752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FRENTE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La bolsa: </a:t>
            </a:r>
            <a:r>
              <a:rPr sz="3000" b="1">
                <a:solidFill>
                  <a:srgbClr val="111111"/>
                </a:solidFill>
                <a:latin typeface="Calibri"/>
              </a:rPr>
              <a:t>cuánto se cobró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5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0000"/>
            <a:ext cx="1063752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Antes de repartir hay que saber cuánto hay. El sistema recibe el importe ya cobrado por cada usuario y lo deja trazable hasta su factura.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50000"/>
            <a:ext cx="52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650000"/>
            <a:ext cx="5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240" y="2850000"/>
            <a:ext cx="48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Una bolsa por usuario y periodo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240" y="3200000"/>
            <a:ext cx="4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canal, la plataforma o el hotel que pagó, con su periodo y su circuito.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7240" y="2650000"/>
            <a:ext cx="52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7240" y="2650000"/>
            <a:ext cx="5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7240" y="2850000"/>
            <a:ext cx="48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Nacional e internacional, separados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7240" y="3200000"/>
            <a:ext cx="4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Se recaudan y se invierten por separado, y producen dos repartos distintos.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00000"/>
            <a:ext cx="52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900000"/>
            <a:ext cx="5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240" y="4100000"/>
            <a:ext cx="48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El pagador es una entidad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240" y="4450000"/>
            <a:ext cx="4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No un texto libre: usuarios de recaudo con su identificación.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7240" y="3900000"/>
            <a:ext cx="52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7240" y="3900000"/>
            <a:ext cx="5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7240" y="4100000"/>
            <a:ext cx="48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La procedencia queda registrada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7240" y="4450000"/>
            <a:ext cx="4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convenio · tarifa · factura — responde de dónde salió el dinero.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50000"/>
            <a:ext cx="1063752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186B"/>
                </a:solidFill>
                <a:latin typeface="Calibri"/>
              </a:rPr>
              <a:t>GET /recaudo · GET /bolsas · GET /bolsas/{id}  — expuesto en el contrato de la API y cubierto por pruebas.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FRENTE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Ingesta: tres fuentes, </a:t>
            </a:r>
            <a:r>
              <a:rPr sz="3000" b="1">
                <a:solidFill>
                  <a:srgbClr val="111111"/>
                </a:solidFill>
                <a:latin typeface="Calibri"/>
              </a:rPr>
              <a:t>un mismo esquema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6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pic>
        <p:nvPicPr>
          <p:cNvPr id="9" name="Picture 8" descr="s3_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50000"/>
            <a:ext cx="6200000" cy="28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00000" y="2050000"/>
            <a:ext cx="4200000" cy="7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0" y="205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0000" y="215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1111"/>
                </a:solidFill>
                <a:latin typeface="Calibri"/>
              </a:rPr>
              <a:t>Tres fuentes ya integradas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0" y="241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Televisión, plataforma y cine, en Excel, CSV y JSON.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0000" y="2790000"/>
            <a:ext cx="4200000" cy="7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00000" y="279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0000" y="289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1111"/>
                </a:solidFill>
                <a:latin typeface="Calibri"/>
              </a:rPr>
              <a:t>Añadir una fuente no toca el motor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0000" y="315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Cada fuente es un mapa de columnas declarativo.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0" y="3530000"/>
            <a:ext cx="4200000" cy="7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00000" y="353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0000" y="363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1111"/>
                </a:solidFill>
                <a:latin typeface="Calibri"/>
              </a:rPr>
              <a:t>Nada se descarta en silencio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000" y="389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Cada rechazo queda con su motivo y su campo.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0000" y="4270000"/>
            <a:ext cx="4200000" cy="7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00000" y="427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0000" y="437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1111"/>
                </a:solidFill>
                <a:latin typeface="Calibri"/>
              </a:rPr>
              <a:t>10.000 registros, menos de 5 minutos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463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Verificado en la integración continua.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0000" y="5010000"/>
            <a:ext cx="4200000" cy="7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00000" y="501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0000" y="511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1111"/>
                </a:solidFill>
                <a:latin typeface="Calibri"/>
              </a:rPr>
              <a:t>Las reglas del reglamento, al cargar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0000" y="5370000"/>
            <a:ext cx="39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Duración artística 80 % y hora de TV de 48 minutos.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FRENTE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Catálogo de obras: </a:t>
            </a:r>
            <a:r>
              <a:rPr sz="3000" b="1">
                <a:solidFill>
                  <a:srgbClr val="111111"/>
                </a:solidFill>
                <a:latin typeface="Calibri"/>
              </a:rPr>
              <a:t>la ficha de cada obra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7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pic>
        <p:nvPicPr>
          <p:cNvPr id="9" name="Picture 8" descr="s3_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50000"/>
            <a:ext cx="6200000" cy="38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00000" y="2050000"/>
            <a:ext cx="4200000" cy="28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0" y="205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0000" y="2200000"/>
            <a:ext cx="3840000" cy="2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— Búsqueda por título, género, IPI y año.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— Filtros combinables en una misma consulta.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— Paginación sobre una instantánea coherente.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— El buscador usa el índice del catálogo.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11111"/>
                </a:solidFill>
                <a:latin typeface="Calibri"/>
              </a:rPr>
              <a:t>— Cada obra queda ligada a sus usos.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0" y="5000000"/>
            <a:ext cx="4200000" cy="10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0" y="500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0000" y="5100000"/>
            <a:ext cx="38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Cada cambio deja asiento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0000" y="5450000"/>
            <a:ext cx="3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alta y la corrección se registran en una bitácora inmutable.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FRENTE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Declaración de Obra: </a:t>
            </a:r>
            <a:r>
              <a:rPr sz="3000" b="1">
                <a:solidFill>
                  <a:srgbClr val="111111"/>
                </a:solidFill>
                <a:latin typeface="Calibri"/>
              </a:rPr>
              <a:t>los porcentajes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8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pic>
        <p:nvPicPr>
          <p:cNvPr id="9" name="Picture 8" descr="s3_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50000"/>
            <a:ext cx="5800000" cy="40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00000" y="2050000"/>
            <a:ext cx="4600000" cy="9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0" y="2050000"/>
            <a:ext cx="46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0000" y="2200000"/>
            <a:ext cx="42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El único origen válido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2500000"/>
            <a:ext cx="42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Solo la declaración del autor: ni reportes ni contratos.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0" y="3030000"/>
            <a:ext cx="4600000" cy="9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0" y="3030000"/>
            <a:ext cx="46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0000" y="3180000"/>
            <a:ext cx="42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Versionada por vigencia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0000" y="3480000"/>
            <a:ext cx="42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Una versión no se borra: se cierra y se abre otra.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0" y="4010000"/>
            <a:ext cx="4600000" cy="9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0" y="4010000"/>
            <a:ext cx="46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0000" y="4160000"/>
            <a:ext cx="42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Invariante del 100 %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000" y="4460000"/>
            <a:ext cx="42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Si no suman 100, se retiene el total de esa obra.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0" y="4990000"/>
            <a:ext cx="4600000" cy="9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0000" y="4990000"/>
            <a:ext cx="46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0000" y="5140000"/>
            <a:ext cx="42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Aviso antes de guardar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000" y="5440000"/>
            <a:ext cx="424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editor muestra la suma mientras se escribe.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FRENTE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Identificar la obra </a:t>
            </a:r>
            <a:r>
              <a:rPr sz="3000" b="1">
                <a:solidFill>
                  <a:srgbClr val="111111"/>
                </a:solidFill>
                <a:latin typeface="Calibri"/>
              </a:rPr>
              <a:t>que el reporte nombra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9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pic>
        <p:nvPicPr>
          <p:cNvPr id="9" name="Picture 8" descr="s3_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50000"/>
            <a:ext cx="10637520" cy="2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7240" y="4850000"/>
            <a:ext cx="3428640" cy="12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85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40" y="5000000"/>
            <a:ext cx="310864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Escalón 1 · alias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40" y="5400000"/>
            <a:ext cx="310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Los nombres con los que cada fuente ya conoce la obra.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5880" y="4850000"/>
            <a:ext cx="3428640" cy="12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5880" y="485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5880" y="5000000"/>
            <a:ext cx="310864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Escalón 2 · identificadores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880" y="5400000"/>
            <a:ext cx="310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IDA, EIDR e IMDB: la ficha internacional de la obra.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4520" y="4850000"/>
            <a:ext cx="3428640" cy="12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520" y="485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4520" y="5000000"/>
            <a:ext cx="310864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Filtro de repertorio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4520" y="5400000"/>
            <a:ext cx="310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Lo que no es del repertorio se excluye, y no cuenta como obra no identificada.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FRENTE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El motor de reparto </a:t>
            </a:r>
            <a:r>
              <a:rPr sz="3000" b="1">
                <a:solidFill>
                  <a:srgbClr val="111111"/>
                </a:solidFill>
                <a:latin typeface="Calibri"/>
              </a:rPr>
              <a:t>y sus parámetros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10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0000"/>
            <a:ext cx="10637520" cy="7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05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240" y="2200000"/>
            <a:ext cx="1023752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Puntos = ponderación × duración × rating × emisiones   ·   Valor del punto = total del canal ÷ total de puntos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00000"/>
            <a:ext cx="10637520" cy="58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0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7240" y="2980000"/>
            <a:ext cx="4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Una función, misma cifra siempre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240" y="2980000"/>
            <a:ext cx="5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No lee la base, ni el reloj, ni la red: todo entra como argumento.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20000"/>
            <a:ext cx="10637520" cy="58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52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240" y="3600000"/>
            <a:ext cx="4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El valor del punto es por 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240" y="3600000"/>
            <a:ext cx="5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Cada canal se reparte conforme al pago que hizo ese periodo.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40000"/>
            <a:ext cx="10637520" cy="58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4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240" y="4220000"/>
            <a:ext cx="4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Parametrizado, no cableado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240" y="4220000"/>
            <a:ext cx="5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Tarifas, deducciones y reglas viven como datos con vigencia.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60000"/>
            <a:ext cx="10637520" cy="58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76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240" y="4840000"/>
            <a:ext cx="4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Snapshot congelado al abrir la corrida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240" y="4840000"/>
            <a:ext cx="5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Se fija la versión exacta de parámetros y archivos: un reproceso de dentro de diez años lee lo mismo.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80000"/>
            <a:ext cx="10637520" cy="58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38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240" y="5460000"/>
            <a:ext cx="4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Reproducibilidad en cada envío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240" y="5460000"/>
            <a:ext cx="5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La CI reejecuta el motor y compara byte a byte contra la corrida de referencia.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LOS NÚMEROS DEL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Cantidad, </a:t>
            </a:r>
            <a:r>
              <a:rPr sz="3000" b="1">
                <a:solidFill>
                  <a:srgbClr val="111111"/>
                </a:solidFill>
                <a:latin typeface="Calibri"/>
              </a:rPr>
              <a:t>y sobre todo pruebas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11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00000"/>
            <a:ext cx="2500000" cy="11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240" y="230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833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240" y="275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pruebas del backend en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7240" y="2100000"/>
            <a:ext cx="2500000" cy="11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7240" y="21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240" y="230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240" y="275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pruebas del tablero 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7240" y="2100000"/>
            <a:ext cx="25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7240" y="21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7240" y="230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58 %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7240" y="275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del código Go es prueba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7240" y="2100000"/>
            <a:ext cx="25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7240" y="210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7240" y="230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7240" y="275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migraciones de base de datos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50000"/>
            <a:ext cx="25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35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240" y="355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240" y="400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servicios publicados en la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37240" y="3350000"/>
            <a:ext cx="25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7240" y="335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7240" y="355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7240" y="400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fuentes de reportes integradas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7240" y="3350000"/>
            <a:ext cx="2500000" cy="11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7240" y="335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7240" y="355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16 / 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240" y="400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issues del Sprint 3 entregadas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57240" y="3350000"/>
            <a:ext cx="25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57240" y="3350000"/>
            <a:ext cx="25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7240" y="3550000"/>
            <a:ext cx="2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186B"/>
                </a:solidFill>
                <a:latin typeface="Calibri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7240" y="4000000"/>
            <a:ext cx="23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compuertas de calidad en verde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700000"/>
            <a:ext cx="1063752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Nada llega a producción sin pasar por: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050000"/>
            <a:ext cx="1063752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— Frontera de arquitectura · contrato de la API validado · arranque completo con datos de prueba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— Lote de 10.000 registros en menos de 5 minutos · reproducibilidad del motor · revisión de estilo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DEMOSTRACIÓN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Y ya se puede ver </a:t>
            </a:r>
            <a:r>
              <a:rPr sz="3000" b="1">
                <a:solidFill>
                  <a:srgbClr val="111111"/>
                </a:solidFill>
                <a:latin typeface="Calibri"/>
              </a:rPr>
              <a:t>funcionando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12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pic>
        <p:nvPicPr>
          <p:cNvPr id="9" name="Picture 8" descr="s3_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50000"/>
            <a:ext cx="6200000" cy="38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00000" y="2050000"/>
            <a:ext cx="4200000" cy="14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0" y="205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0000" y="2200000"/>
            <a:ext cx="38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Dirección del entorno desplegado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0000" y="2600000"/>
            <a:ext cx="384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9186B"/>
                </a:solidFill>
                <a:latin typeface="Calibri"/>
              </a:rPr>
              <a:t>main.d2o2d9bqy70o7u.amplifyapp.com</a:t>
            </a:r>
          </a:p>
        </p:txBody>
      </p:sp>
      <p:pic>
        <p:nvPicPr>
          <p:cNvPr id="14" name="Picture 13" descr="s3_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000" y="2200000"/>
            <a:ext cx="900000" cy="90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00000" y="3650000"/>
            <a:ext cx="42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0" y="365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0000" y="3830000"/>
            <a:ext cx="38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Despliegue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0000" y="4150000"/>
            <a:ext cx="3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Cada cambio aprobado en main se publica solo: API, base de datos y tablero.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0000" y="4850000"/>
            <a:ext cx="4200000" cy="11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0000" y="4850000"/>
            <a:ext cx="420000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80000" y="5030000"/>
            <a:ext cx="384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Calibri"/>
              </a:rPr>
              <a:t>Cinco roles del reglamento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0000" y="5350000"/>
            <a:ext cx="384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Administración, distribución, contabilidad, auditoría y titular ven su parte.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7000"/>
            <a:ext cx="863752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MÁS ALLÁ DEL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3752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186B"/>
                </a:solidFill>
                <a:latin typeface="Calibri"/>
              </a:rPr>
              <a:t>Por qué </a:t>
            </a:r>
            <a:r>
              <a:rPr sz="3000" b="1">
                <a:solidFill>
                  <a:srgbClr val="111111"/>
                </a:solidFill>
                <a:latin typeface="Calibri"/>
              </a:rPr>
              <a:t>esto importa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12028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13</a:t>
            </a:r>
          </a:p>
        </p:txBody>
      </p:sp>
      <p:pic>
        <p:nvPicPr>
          <p:cNvPr id="7" name="Picture 6" descr="upb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00000"/>
            <a:ext cx="3428640" cy="28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7240" y="2350000"/>
            <a:ext cx="306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Calibri"/>
              </a:rPr>
              <a:t>Cada cifra, explicable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240" y="3000000"/>
            <a:ext cx="306864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De qué recaudo salió, qué reporte la ponderó, qué versión de las reglas se aplicó y qué declaración fijó el porcentaje.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5880" y="2100000"/>
            <a:ext cx="3428640" cy="28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5880" y="21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5880" y="2350000"/>
            <a:ext cx="306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Calibri"/>
              </a:rPr>
              <a:t>Auditar es consultar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880" y="3000000"/>
            <a:ext cx="306864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La respuesta a una auditoría es una consulta a la bitácora, no una investigación de semanas.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4520" y="2100000"/>
            <a:ext cx="3428640" cy="280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4520" y="2100000"/>
            <a:ext cx="342864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520" y="2350000"/>
            <a:ext cx="3068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Calibri"/>
              </a:rPr>
              <a:t>Para el escritor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520" y="3000000"/>
            <a:ext cx="306864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Un portal donde ve el origen de su dinero: qué obra, qué canal, qué periodo y por qué ese monto.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00000"/>
            <a:ext cx="10637520" cy="900000"/>
          </a:xfrm>
          <a:prstGeom prst="rect">
            <a:avLst/>
          </a:prstGeom>
          <a:solidFill>
            <a:srgbClr val="F7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100000"/>
            <a:ext cx="10637520" cy="6372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240" y="5300000"/>
            <a:ext cx="1023752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11111"/>
                </a:solidFill>
                <a:latin typeface="Calibri"/>
              </a:rPr>
              <a:t>El siguiente paso del equipo es el proceso completo de liquidación, con las firmas que exige el reglamento antes de que salga un peso.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80" y="457200"/>
            <a:ext cx="1737000" cy="58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2200000"/>
            <a:ext cx="820000" cy="100080"/>
          </a:xfrm>
          <a:prstGeom prst="rect">
            <a:avLst/>
          </a:prstGeom>
          <a:solidFill>
            <a:srgbClr val="C91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0000" y="2000000"/>
            <a:ext cx="5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C9186B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0000"/>
            <a:ext cx="65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11111"/>
                </a:solidFill>
                <a:latin typeface="Calibri"/>
              </a:rPr>
              <a:t>Preguntas, y si quieren,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11111"/>
                </a:solidFill>
                <a:latin typeface="Calibri"/>
              </a:rPr>
              <a:t>la demostración en vivo.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00000"/>
            <a:ext cx="6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9186B"/>
                </a:solidFill>
                <a:latin typeface="Calibri"/>
              </a:rPr>
              <a:t>main.d2o2d9bqy70o7u.amplifyapp.com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00000"/>
            <a:ext cx="65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Intela · REDES SGC · Universidad Pontificia Bolivariana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Emanuel Acevedo · Roy Sandoval · Miguel Legarda · Santiago Mendoza</a:t>
            </a:r>
          </a:p>
        </p:txBody>
      </p:sp>
      <p:pic>
        <p:nvPicPr>
          <p:cNvPr id="8" name="Picture 7" descr="s3_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0" y="3000000"/>
            <a:ext cx="4200000" cy="262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382440"/>
            <a:ext cx="7314840" cy="273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Intela  ·  Grupo 2  ·  Sprint 3  ·  UPB  ·  14</a:t>
            </a:r>
          </a:p>
        </p:txBody>
      </p:sp>
      <p:pic>
        <p:nvPicPr>
          <p:cNvPr id="10" name="Picture 9" descr="upb_c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440" y="6126480"/>
            <a:ext cx="525960" cy="566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20200" y="6144840"/>
            <a:ext cx="1279800" cy="566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Universidad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Pontificia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4A4A"/>
                </a:solidFill>
                <a:latin typeface="Calibri"/>
              </a:rPr>
              <a:t>Bolivariana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